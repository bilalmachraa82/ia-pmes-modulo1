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1 — CAPA:
"Bem-vindos! Sou o Bilal Machraa, fundador da AiParaTi. Nos próximos 3h30, não vamos falar de teoria — vamos trabalhar directamente sobre os vossos negócios. No final, saem daqui com um plano de acção concreto para segunda-feira. Zero jargão, zero hype — só resultados."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2 — ACORDO:
"Antes de começar, vamos alinhar expectativas. Isto não é uma aula — é uma sessão de trabalho. Peço-vos câmaras ligadas para manter a energia. Perguntas a qualquer momento, no chat ou por voz. E a promessa: vão sair daqui com diagnóstico, roadmap e 3 acções para segunda-feira. Não vou falar de redes neuronais. Vou falar de margens, horas e clientes."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3 — TIMELINE:
"Aqui está o nosso percurso. São 210 minutos divididos em 8 blocos. Reparem que 70% é prático — exercícios, demos ao vivo, e trabalho sobre os vossos casos. Temos uma pausa de 10 minutos ao minuto 85. Agora, vamos começar pelo que chamo de 'Despertar Estratégico' — entender o custo real de não agir."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4 — SECÇÃO DESPERTAR:
"Vamos entrar na primeira parte: o Despertar Estratégico. Antes de falar do que a IA pode fazer, precisamos perceber o que estamos a perder por NÃO usar IA. Números concretos."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5 — TESTE 30 SEGUNDOS:
"Quero que façam este exercício agora, mentalmente. Pensem no processo mais repetitivo e frustrante da vossa empresa. Aquele que toda a gente sabe que é um desperdício mas ninguém muda. Quantas horas por semana? Multipliquem pelo custo/hora. Multipliquem por 48 semanas. Esse número é o vosso custo da inacção. Alguém quer partilhar?"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6 — CUSTO DA INACÇÃO:
"Estes números são reais. A McKinsey estima uma poupança operacional média de cerca de 23% com IA — e menos de 15% das PMEs europeias estão a usar IA, segundo a OECD de Dezembro de 2025. A janela de vantagem é de 12 a 18 meses. Quem entra agora lidera. Quem espera, vai pagar mais caro para apanhar os concorrentes."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7 — DEMO ANTES/DEPOIS:
"Vejam este exemplo concreto. Uma empresa que recebia pedidos por WhatsApp: antes, 7 minutos por pedido com 15% de erros. Com IA: 30 segundos, 2% de erros. São 18 horas por semana libertadas. E isto não é ficção científica — é uma automação que já existe e que vamos aprender a construir hoje."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8 — O QUE LEVAM DAQUI:
"Isto é o que levam daqui hoje. Não é teoria — são 5 deliverables concretos. Diagnóstico, mapa de oportunidades, hipótese de ROI, roadmap de 90 dias, e 3 acções para segunda-feira a custo zero. Tudo preenchido com dados reais do vosso negócio."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9 — SECÇÃO FRAMEWORK:
"Agora vamos ao modelo que guia tudo o resto: Gatinhar, Andar, Correr. É um framework simples mas poderoso para saberem exactamente onde estão e o que fazer a seguir."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10 — OVERVIEW G/A/C:
"Toda a empresa está num destes 3 estágios. Gatinhar é identificar e compreender — custo zero, literacia básica. Andar é implementar e medir — ferramentas a €0-20/mês, 2-5 horas poupadas por semana. Correr é escalar e antecipar — automação, agentes, 20-40 horas poupadas. Não há vergonha em estar a gatinhar. 80% das PMEs estão aí. O importante é saber e dar o próximo passo."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11 — GATINHAR DETALHE:
"Vamos olhar mais de perto para o Gatinhar. A maioria das empresas tem processos 'burros' — copiar dados, responder às mesmas perguntas, gerar relatórios manuais. O primeiro passo não é comprar ferramentas — é ter literacia para saber onde a IA cria valor REAL. Tipicamente, 15 a 30 horas por semana estão a ser desperdiçadas em tarefas automatizáveis. É dinheiro a sair pela porta."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12 — PROCESSOS POR SECTOR:
"Aqui estão exemplos reais por sector. Distribuição: copiar pedidos do WhatsApp para o ERP — 15 horas por semana. Turismo: responder FAQs em 4 línguas — 20 horas. Jurídico: pesquisa de jurisprudência — 30% do tempo. Quem se revê? Levantem a mão virtual se reconhecem algum destes no vosso dia-a-dia."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13 — SECÇÃO TOOLKIT:
"Chegámos à parte prática. Vou mostrar-vos as ferramentas concretas que podem começar a usar já na segunda-feira, de €0 a €20 por mês. Sem pedir orçamentos, sem IT, sem complicações."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14 — OS 3 ASSISTENTES:
"Estes são os 3 grandes assistentes de IA. O Claude, da Anthropic, é o melhor para documentos longos, contratos e escrita em português. O ChatGPT, da OpenAI, é o mais versátil — imagens, GPTs personalizados, análise de dados. O Gemini, da Google, é ideal para quem já usa Gmail, Sheets e Docs. Todos têm versão gratuita. O meu conselho: usem 2 ou 3 em paralelo. Cada um tem forças diferentes."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15 — ABACUS.AI:
"Agora, o segredo que vos quero revelar. Em vez de pagar €20 pelo ChatGPT, €20 pelo Claude, €20 pelo Gemini — total €60/mês — existe o Abacus.ai ChatLLM. Por €10/mês, acedem a TODOS os modelos: GPT-5, Claude Opus, Gemini 3.1 Pro, mais 40 modelos. Inclui geração de imagens, agente autónomo, análise de documentos. Leiam o QR code ou visitem o link — há um plano gratuito para experimentar."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16 — MAIS FERRAMENTAS:
"Para além dos assistentes, há 4 ferramentas que mudam o jogo. O Gamma cria apresentações profissionais em 2 minutos — gratuito com 400 créditos iniciais. O Perplexity é um Google com IA que cita as fontes — perfeito para pesquisa de mercado. O Fireflies transcreve reuniões automaticamente — 20 transcrições grátis por mês. E o Notion AI organiza docs, tarefas e wikis com IA integrada."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17 — PRO TIP:
"Olhem para esta tabela. Tudo isto é gratuito. Resumir um contrato de 50 páginas: 2 minutos com o Claude, em vez de 3-4 horas. Criar uma apresentação: 3 minutos com Gamma, em vez de 4 horas. Custo total: zero euros. O tempo para aprender: 30 minutos. O retorno: imediato. Quem não experimenta isto está literalmente a deitar dinheiro ao lixo."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18 — ANDAR:
"Vamos subir um nível: o Andar. Aqui é onde o dinheiro começa a aparecer. Duas coisas fundamentais: primeiro, transformar os vossos documentos num 'cérebro' que responde perguntas — é o que chamamos RAG. Segundo, automação directa — o Claude ou ChatGPT lêem os vossos emails, extraem dados, geram respostas. Sem programação."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19 — NotebookLM:
"O NotebookLM da Google é uma ferramenta incrível e gratuita. Carregam PDFs, documentos internos, manuais — e podem fazer perguntas cruzadas entre todos. Imaginem: carregam os últimos 5 relatórios financeiros e perguntam 'qual foi a tendência da margem bruta nos últimos 3 trimestres?' Responde em 5 segundos, com citações exactas. Até gera podcasts sobre os vossos documentos. Limite: 50 queries por dia, mais que suficiente."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20 — AUTOMAÇÃO SIMPLES:
"A automação mais simples que existe: não precisa de Zapier, nem de código. O Claude e o ChatGPT já conseguem ler emails, extrair dados, e gerar respostas automaticamente usando extensões como o Claude Desktop ou o ChatGPT Actions. Digam-lhe 'lê os meus emails de hoje e resume os que precisam de resposta urgente'. É isto. Sem intermediários."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21 — CORRER:
"O nível Correr é o futuro: automação completa, agentes autónomos, e IA preditiva. Não é para agora — mas é para onde caminhamos. O Deep Agent do Abacus já faz relatórios completos sozinho. O importante é terem a visão: gatinhar primeiro, andar com confiança, e depois correr. Cada fase paga a seguinte."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22 — TRANSIÇÃO EXERCÍCIO:
"Chega de falar sobre os outros. Agora é sobre vocês. Vamos fazer o primeiro exercício: um Auto-Diagnóstico de Maturidade de IA da vossa empresa. São 15 minutos. Sejam honestos — não há respostas certas ou erradas."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23 — EXERCÍCIO 1:
"Instruções claras: abram o workbook na página 2. São 12 perguntas em 5 dimensões. Respondam com honestidade — pontuação de 1 a 5 cada. Somem o total. Identifiquem as 3 maiores ineficiências e calculem o custo anual. Depois, consultem a tabela para ver em que estágio estão. Têm 12 minutos — eu vou estar disponível para dúvidas."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24 — INTERPRETAÇÃO:
"Vejam aqui a interpretação. 12-20: estão a gatinhar, no início — e isso é bom, porque o potencial de ganho é máximo. 21-30: há consciência, falta execução. 31-40: as fundações existem, é hora de colher frutos. 41-50: base sólida, hora de escalar. 51-60: estão à frente de 95% das PMEs portuguesas. Quem quer partilhar o score?"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25 — PAUSA:
"Pausa de 10 minutos. Enquanto descansam, pensem: qual é O processo que, se fosse automatizado amanhã, libertaria mais tempo na vossa equipa? Voltamos em 10."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26 — SECÇÃO CENÁRIOS:
"Bem-vindos de volta. Agora vamos ver cenários típicos de ROI — compostos a partir de projectos reais em PMEs portuguesas. Vão ver como empresas semelhantes às vossas estão a usar IA e os resultados concretos."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27 — DECISION TREE:
"Antes dos casos, vamos simplificar. Existem 3 tipos de problemas e 3 tipos de solução. Problema de conhecimento — a equipa não encontra informação — resolve com um Assistente IA. Problema de processo — tarefas manuais repetitivas — resolve com Automação. Problema de decisão — decidem pelo instinto — resolve com Agentes IA. Em qual destes 3 se encaixam os vossos problemas?"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28 — CASO DISTRIBUIÇÃO:
"Primeiro caso: distribuidor alimentar no Porto. 150 pedidos por dia via WhatsApp e email, entrada manual no ERP. 18 horas por semana, 15% de erros. Com IA: extracção automática, 80% dos pedidos processados sem intervenção humana, erros caíram para 2%. ROI de 400% em 6 meses. Investimento: cerca de 6 mil euros. Menos do que um colaborador a meio-tempo."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29 — CASO JURÍDICO:
"Escritório de advocacia em Lisboa, 5 advogados. Gastavam 30% do tempo em pesquisa e revisão de contratos. Solução: NotebookLM mais Claude sobre toda a legislação e contratos da firma. Resultado: 75% menos tempo em revisão, 40% mais capacidade, 240 mil euros de receita adicional por ano. ROI de 1.900%. Quando se liberta tempo de quem cobra €150/hora, o retorno é exponencial."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30 — CASO TURISMO:
"Alojamento local em Lisboa, 8 apartamentos. 120 mensagens por semana em 4 línguas. Equipa sobrecarregada. Solução: chatbot multilingue via WhatsApp e website, respostas 24/7. Resultado: menos 45% de chamadas de suporte, mais 20% de upsell em tours e refeições. ROI de 340% em 8 meses. Como diz o cliente: 'O chatbot responde às 3 da manhã. A equipa dorme. O negócio não.'"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31 — DEMO AO VIVO:
"Agora vou fazer 3 demos ao vivo, no meu ecrã partilhado. Primeiro: Claude a analisar um contrato real em 30 segundos. Segundo: NotebookLM a criar uma base de conhecimento com 5 documentos. Terceiro: Gamma a criar uma apresentação profissional em 3 minutos. Total: 11 minutos. Vão ver com os vossos próprios olhos."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32 — PROMPTS PRONTOS:
"Aqui ficam 5 prompts prontos a copiar e colar. Resumo executivo, email profissional, análise de dados, SOP de processo, e proposta comercial. Copiem-nos agora para o vosso telemóvel ou computador. Funcionam em qualquer assistente — Claude, ChatGPT, ou Abacus. São o vosso kit de arranque para segunda-feira."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33 — SECÇÃO EXERCÍCIOS:
"É a vossa vez de aplicar tudo ao vosso negócio. Vamos fazer 2 exercícios seguidos: primeiro, mapear 3 casos de uso de IA. Depois, calcular o ROI do caso número 1. No final, têm um business case concreto."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34 — EXERCÍCIO 2:
"Exercício 2: pensem em 3 oportunidades de IA no vosso negócio. Para cada uma, definam: qual é o processo, é assistente, automação ou agente? Qual o impacto estimado? Qual o esforço? Usem o scoring rápido que está à direita — impacto, facilidade, velocidade, aceitação pela equipa. O que tiver score mais alto é o vosso projecto número 1. Têm 12 minutos."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35 — EXERCÍCIO 3 ROI:
"Exercício 3: agora vamos calcular o ROI do caso que escolheram. De um lado, os benefícios: horas poupadas vezes custo/hora vezes 48 semanas, mais erros reduzidos, mais receita incremental. Do outro, os custos: implementação, licenças, formação. A fórmula é simples. Se o payback for inferior a 4 meses — implementem já. 4 a 6 meses — é GO. 6 a 9 meses — façam um piloto. Mais de 9 — repensem."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36 — REFERÊNCIAS INVESTIMENTO:
"Aqui têm uma tabela de referência com valores indicativos para o mercado português. Um chatbot RAG simples custa 2 a 5 mil euros de setup mais 50 a 150 euros por mês. Uma automação de workflow simples: 1.500 a 4.000 euros. Usem estes números para validar o vosso exercício de ROI. São benchmarks realistas, não promessas de venda."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37 — SECÇÃO ROADMAP:
"Última parte da sessão: transformar tudo o que aprenderam num plano de acção concreto. Vamos construir o vosso roadmap de 90 dias."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38 — AI CANVAS:
"Este é o AI Roadmap Canvas. Uma página, tudo o que precisam. Em cima à esquerda: o diagnóstico — estágio e score. À direita: a visão a 12 meses. Ao meio: o projecto 1 (quick win) e o projecto 2 (médio prazo). Em baixo: timeline de 90 dias e as 3 acções para segunda-feira. Preencham agora. Isto é o que vão colar na parede do escritório."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39 — KILL VS SCALE:
"Tão importante como saber o que fazer é saber o que NÃO fazer. Kill: se tem menos de 5h/semana de impacto, sem ligação a receita, payback superior a 12 meses — matem o projecto. Pilotar: potencial alto mas muita incerteza — 4 semanas, escopo mínimo, 1 KPI claro. Scale: mais de 10h/semana de impacto, payback inferior a 6 meses, equipa aceita — escalem. Sem sentimentalismo. Dados decidem."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40 — MAPA FERRAMENTAS:
"Este é o mapa completo: de zero euros a empresa inteligente. Na coluna Gatinhar, tudo gratuito. Na coluna Andar, de 0 a 20 euros por mês. Na coluna Correr, 50 a 500 euros. A estratégia é clara: começar por zero, validar com 10-20 euros, escalar com ROI comprovado. Tirem uma foto a este slide — é o vosso guia de compras."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41 — SEGUNDA-FEIRA:
"A pergunta mais importante da sessão: o que fazem segunda-feira de manhã? Sem acção na primeira semana, o roadmap morre. Três acções concretas: primeiro, abrir o Claude e carregar o documento mais chato do negócio — 5 minutos. Segundo, criar um NotebookLM com os 5 documentos mais consultados — 10 minutos. Terceiro, partilhar o diagnóstico com a equipa de gestão — 15 minutos. Total: 30 minutos. Custo: zero euros."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42 — RECAPITULAÇÃO:
"Vamos recapitular. Hoje construímos 5 coisas concretas: o diagnóstico de maturidade da vossa empresa, o toolkit personalizado para o vosso estágio, cenários de ROI calculados para o vosso sector, o canvas estratégico de IA preenchido, e o roadmap de 30-60-90 dias. Isto não é informação — é um plano de acção."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43 — RECURSOS + QR:
"Aqui ficam os vossos recursos. O link do Abacus.ai ChatLLM com desconto exclusivo para participantes — leiam o QR. Vou enviar por email os templates, prompts e slides. E fiquem atentos ao Módulo II sobre Automação e Integração. Alguma dúvida sobre as ferramentas antes de fecharmos?"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SLIDE 44 — FECHO:
"A IA não substitui líderes. Amplifica-os. Não precisam de milhares de euros para começar. Precisam de 30 minutos e a coragem de experimentar. A melhor altura para começar era há 6 meses. A segunda melhor é segunda-feira de manhã. Obrigado pela vossa energia e participação. Agora é executar. Estou disponível por email para qualquer dúvida. Até ao Módulo II!"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image" Target="../media/image-3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772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5544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IA para PMEs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3152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CAOS À EFICIÊNCIA OPERACIONAL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291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 — Gatinhar → Andar → Correr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31520" y="3749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concretas + Casos reais + O vosso plano de acção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4480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de Março 2026 · 14h30–18h00 · Online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Nosso Acordo para as Próximas 3h30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Isto não é uma aula. É uma sessão de trabalho sobre o vosso negócio.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554480"/>
            <a:ext cx="768096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459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5544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Câmaras ligadas — cria compromisso e energia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31520" y="2240280"/>
            <a:ext cx="7680960" cy="548640"/>
          </a:xfrm>
          <a:prstGeom prst="rect">
            <a:avLst/>
          </a:prstGeom>
          <a:solidFill>
            <a:srgbClr val="E8ECF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3172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22402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a qualquer momento — chat ou voz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01752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63040" y="29260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Saem com: diagnóstico + roadmap + 3 acções para segunda-feira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31520" y="3611880"/>
            <a:ext cx="7680960" cy="548640"/>
          </a:xfrm>
          <a:prstGeom prst="rect">
            <a:avLst/>
          </a:prstGeom>
          <a:solidFill>
            <a:srgbClr val="E8ECF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70332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6118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jargão técnico — falamos a linguagem do negócio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"Não vou falar de redes neuronais. Vou falar de margens, horas e clientes."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Percurso da Sessão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914400" cy="3200400"/>
          </a:xfrm>
          <a:prstGeom prst="rect">
            <a:avLst/>
          </a:prstGeom>
          <a:solidFill>
            <a:srgbClr val="E87722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1188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0–25'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768" y="1737360"/>
            <a:ext cx="694944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1828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Despertar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25603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+ Demo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399032" y="1097280"/>
            <a:ext cx="914400" cy="3200400"/>
          </a:xfrm>
          <a:prstGeom prst="rect">
            <a:avLst/>
          </a:prstGeom>
          <a:solidFill>
            <a:srgbClr val="1B365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399032" y="1188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25–60'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08760" y="1737360"/>
            <a:ext cx="694944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399032" y="1828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Ferramentas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99032" y="25603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G/A/C + Toolkit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478024" y="1097280"/>
            <a:ext cx="914400" cy="320040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478024" y="1188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60–85'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587752" y="1737360"/>
            <a:ext cx="694944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2478024" y="1828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Exercício 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78024" y="25603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Auto-Diagnóstico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57016" y="1097280"/>
            <a:ext cx="914400" cy="3200400"/>
          </a:xfrm>
          <a:prstGeom prst="rect">
            <a:avLst/>
          </a:prstGeom>
          <a:solidFill>
            <a:srgbClr val="8494A7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557016" y="1188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85–95'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66744" y="1737360"/>
            <a:ext cx="694944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557016" y="1828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Pausa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57016" y="25603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36008" y="1097280"/>
            <a:ext cx="914400" cy="3200400"/>
          </a:xfrm>
          <a:prstGeom prst="rect">
            <a:avLst/>
          </a:prstGeom>
          <a:solidFill>
            <a:srgbClr val="1B365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636008" y="1188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95–130'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45736" y="1737360"/>
            <a:ext cx="694944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636008" y="1828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Cenários Típicos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Demo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636008" y="25603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+ Ao Vivo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715000" y="1097280"/>
            <a:ext cx="914400" cy="320040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715000" y="1188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130–160'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24728" y="1737360"/>
            <a:ext cx="694944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Exercícios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e 3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715000" y="25603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Mapear + ROI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793992" y="1097280"/>
            <a:ext cx="914400" cy="3200400"/>
          </a:xfrm>
          <a:prstGeom prst="rect">
            <a:avLst/>
          </a:prstGeom>
          <a:solidFill>
            <a:srgbClr val="E87722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793992" y="1188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160–195'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03720" y="1737360"/>
            <a:ext cx="694944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6793992" y="1828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93992" y="25603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90 Dias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872984" y="1097280"/>
            <a:ext cx="914400" cy="3200400"/>
          </a:xfrm>
          <a:prstGeom prst="rect">
            <a:avLst/>
          </a:prstGeom>
          <a:solidFill>
            <a:srgbClr val="27AE6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872984" y="1188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195–210'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982712" y="1737360"/>
            <a:ext cx="694944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7872984" y="18288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Fecho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872984" y="25603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Compromisso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914400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Despertar Estratégico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de não agir — e o que é possível hoje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347472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Teste dos 30 Segundos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custa a vossa ineficiência mais óbvia?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1554480"/>
            <a:ext cx="7680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554480"/>
            <a:ext cx="73152" cy="2560320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1783080"/>
            <a:ext cx="365760" cy="365760"/>
          </a:xfrm>
          <a:prstGeom prst="ellipse">
            <a:avLst/>
          </a:prstGeom>
          <a:solidFill>
            <a:srgbClr val="E87722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45920" y="17373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Pensem no processo mais repetitivo da vossa empresa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2331720"/>
            <a:ext cx="365760" cy="365760"/>
          </a:xfrm>
          <a:prstGeom prst="ellipse">
            <a:avLst/>
          </a:prstGeom>
          <a:solidFill>
            <a:srgbClr val="E87722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45920" y="2286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Quantas horas consome por semana?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097280" y="2880360"/>
            <a:ext cx="365760" cy="365760"/>
          </a:xfrm>
          <a:prstGeom prst="ellipse">
            <a:avLst/>
          </a:prstGeom>
          <a:solidFill>
            <a:srgbClr val="E87722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45920" y="2834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Multipliquem pelo custo/hora do colaborador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97280" y="3429000"/>
            <a:ext cx="365760" cy="365760"/>
          </a:xfrm>
          <a:prstGeom prst="ellipse">
            <a:avLst/>
          </a:prstGeom>
          <a:solidFill>
            <a:srgbClr val="E87722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45920" y="33832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Multipliquem por 48 semanas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029200" y="3657600"/>
            <a:ext cx="3200400" cy="320040"/>
          </a:xfrm>
          <a:prstGeom prst="rect">
            <a:avLst/>
          </a:prstGeom>
          <a:solidFill>
            <a:srgbClr val="FFF3E8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3657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€ _____ / ano em desperdício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Custo da Inacção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adoptar IA não é "esperar" — é perder terreno todos os dias.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1828800" cy="2743200"/>
          </a:xfrm>
          <a:prstGeom prst="rect">
            <a:avLst/>
          </a:prstGeom>
          <a:solidFill>
            <a:srgbClr val="1B365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828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7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~23%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poupança operacional média com 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 SME Report, 2025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1645920"/>
            <a:ext cx="1828800" cy="2743200"/>
          </a:xfrm>
          <a:prstGeom prst="rect">
            <a:avLst/>
          </a:prstGeom>
          <a:solidFill>
            <a:srgbClr val="1B365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1828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7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&lt;15%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651760" y="2560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PMEs europeias adoptaram IA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51760" y="3474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OECD, Dez 2025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54880" y="1645920"/>
            <a:ext cx="1828800" cy="2743200"/>
          </a:xfrm>
          <a:prstGeom prst="rect">
            <a:avLst/>
          </a:prstGeom>
          <a:solidFill>
            <a:srgbClr val="1B365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828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7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2x a 5x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846320" y="2560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processo manual vs. automatizado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3474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sectoriais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949440" y="1645920"/>
            <a:ext cx="1828800" cy="2743200"/>
          </a:xfrm>
          <a:prstGeom prst="rect">
            <a:avLst/>
          </a:prstGeom>
          <a:solidFill>
            <a:srgbClr val="1B365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49440" y="18288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7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12–18 meses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040880" y="2560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 de vantagem competitiva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40880" y="3474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ser requisito mínimo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Minutos que Valem 18 Horas por Semana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393192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188720"/>
            <a:ext cx="3931920" cy="457200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1887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(Manual)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1828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chega por WhatsApp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240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 lê e interpreta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651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dados para o ERP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063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manualmente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4747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min/pedido · 15% erros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188720"/>
            <a:ext cx="393192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188720"/>
            <a:ext cx="3931920" cy="45720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1887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(Com IA)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0" y="1828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chega por WhatsApp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2240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extrai dados automaticamente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2651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Encomenda criada no ERP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0" y="3063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Confirmação enviada ao cliente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34747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seg/pedido · 2% erros</a:t>
            </a:r>
            <a:endParaRPr lang="en-US" sz="12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24688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Levam Daqui Hoje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levam teoria. Levam um plano.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2763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15544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maturidade da vossa empresa</a:t>
            </a:r>
            <a:endParaRPr lang="en-US" sz="16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21992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21488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3 oportunidades concretas de IA</a:t>
            </a:r>
            <a:endParaRPr lang="en-US" sz="16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816352"/>
            <a:ext cx="320040" cy="3200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63040" y="2743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 de ROI para a oportunidade #1</a:t>
            </a:r>
            <a:endParaRPr lang="en-US" sz="16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10712"/>
            <a:ext cx="320040" cy="32004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463040" y="33375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de 90 dias com ferramentas concretas</a:t>
            </a:r>
            <a:endParaRPr lang="en-US" sz="16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005072"/>
            <a:ext cx="320040" cy="32004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463040" y="39319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acções para segunda-feira — custo €0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731520" y="4206240"/>
            <a:ext cx="7680960" cy="457200"/>
          </a:xfrm>
          <a:prstGeom prst="rect">
            <a:avLst/>
          </a:prstGeom>
          <a:solidFill>
            <a:srgbClr val="FFF3E8"/>
          </a:solidFill>
          <a:ln/>
        </p:spPr>
      </p:sp>
      <p:sp>
        <p:nvSpPr>
          <p:cNvPr id="18" name="Text 11"/>
          <p:cNvSpPr/>
          <p:nvPr/>
        </p:nvSpPr>
        <p:spPr>
          <a:xfrm>
            <a:off x="731520" y="42062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Preenchido com dados REAIS do vosso negócio — não com exemplos genéricos.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914400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Modelo de Maturidade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Gatinhar → Andar → Correr: onde estão e para onde vão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347472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Gatinhar → Andar → Correr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 empresa está num destes 3 estágios. Saber onde estão é o primeiro passo.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269748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2697480" cy="5029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4630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GATINHAR</a:t>
            </a:r>
            <a:endParaRPr lang="en-US" sz="16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2103120"/>
            <a:ext cx="548640" cy="548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" y="27432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+ Compreender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85800" y="32004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Literacia IA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3520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Mapear processos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desperdício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337560" y="1463040"/>
            <a:ext cx="269748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337560" y="1463040"/>
            <a:ext cx="2697480" cy="5029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7" name="Text 14"/>
          <p:cNvSpPr/>
          <p:nvPr/>
        </p:nvSpPr>
        <p:spPr>
          <a:xfrm>
            <a:off x="3337560" y="14630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ANDAR</a:t>
            </a:r>
            <a:endParaRPr lang="en-US" sz="16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103120"/>
            <a:ext cx="548640" cy="5486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474720" y="27432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+ Medir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3566160" y="32004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Assistentes IA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566160" y="3520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Automação simples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56616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mensurável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217920" y="1463040"/>
            <a:ext cx="269748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217920" y="1463040"/>
            <a:ext cx="2697480" cy="502920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25" name="Text 21"/>
          <p:cNvSpPr/>
          <p:nvPr/>
        </p:nvSpPr>
        <p:spPr>
          <a:xfrm>
            <a:off x="6217920" y="14630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CORRER</a:t>
            </a:r>
            <a:endParaRPr lang="en-US" sz="16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2103120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355080" y="27432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+ Antecipar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6446520" y="32004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autónomos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446520" y="3520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preditiva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644652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Motores de oportunidade</a:t>
            </a:r>
            <a:endParaRPr lang="en-US" sz="11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2651760"/>
            <a:ext cx="320040" cy="320040"/>
          </a:xfrm>
          <a:prstGeom prst="rect">
            <a:avLst/>
          </a:prstGeom>
        </p:spPr>
      </p:pic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265176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Gatinhar: Onde 80% das PMEs Estão Hoje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nem sabe quanto dinheiro está a perder em processos manuais.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1828800"/>
            <a:ext cx="320040" cy="3200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828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34440" y="17373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"burros"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2057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Copiar dados, responder às mesmas perguntas, gerar relatórios manuais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560320"/>
            <a:ext cx="320040" cy="3200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4440" y="24688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Literacia básica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27889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o que a IA pode e NÃO pode fazer (sem hype)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3291840"/>
            <a:ext cx="320040" cy="3200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291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34440" y="3200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estratégica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5204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onde a IA cria valor REAL (não onde parece bonito)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4023360"/>
            <a:ext cx="320040" cy="3200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023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34440" y="39319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típico da inacção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34440" y="42519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15–30h/semana desperdiçadas em tarefas automatizáveis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Processos "Burros" por Sector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07008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0972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926080" y="10972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Copiar pedidos WhatsApp → ERP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949440" y="10972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15h/sem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1828800"/>
            <a:ext cx="8229600" cy="594360"/>
          </a:xfrm>
          <a:prstGeom prst="rect">
            <a:avLst/>
          </a:prstGeom>
          <a:solidFill>
            <a:srgbClr val="E8ECF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8528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18288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Turismo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926080" y="18288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FAQs em 4 línguas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949440" y="18288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20h/sem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57200" y="2560320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70048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88720" y="25603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Jurídico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2926080" y="25603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Pesquisar jurisprudência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949440" y="25603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tempo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457200" y="3291840"/>
            <a:ext cx="8229600" cy="594360"/>
          </a:xfrm>
          <a:prstGeom prst="rect">
            <a:avLst/>
          </a:prstGeom>
          <a:solidFill>
            <a:srgbClr val="E8ECF1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401568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88720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2926080" y="32918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consultas e remarcações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949440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10h/sem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133088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188720" y="4023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2926080" y="402336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propostas e orçamentos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6949440" y="4023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8h/sem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914400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Toolkit Prático: €0 a €20/mês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concretas para usar já na segunda-feira — sem pedir orçamentos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347472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182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3 Assistentes de IA: Qual Usar e Quando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731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têm versão gratuita. A diferença está no que cada um faz melhor.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43000"/>
            <a:ext cx="2697480" cy="3520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143000"/>
            <a:ext cx="2697480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11430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(Anthropic)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7373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Gratuito: Sonnet 4.6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19659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Pro: €20/mês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2240280"/>
            <a:ext cx="2148840" cy="18288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33172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fortes: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256032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Análise de documentos longos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285292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Escrita profissional (PT-PT)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1455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Raciocínio complexo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43814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Contratos e textos jurídicos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4023360"/>
            <a:ext cx="2331720" cy="320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4023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claude.ai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" y="438912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para: textos longos, contratos, análise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46120" y="1143000"/>
            <a:ext cx="2697480" cy="3520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46120" y="1143000"/>
            <a:ext cx="2697480" cy="502920"/>
          </a:xfrm>
          <a:prstGeom prst="rect">
            <a:avLst/>
          </a:prstGeom>
          <a:solidFill>
            <a:srgbClr val="10A37F"/>
          </a:solidFill>
          <a:ln/>
        </p:spPr>
      </p:sp>
      <p:sp>
        <p:nvSpPr>
          <p:cNvPr id="23" name="Text 21"/>
          <p:cNvSpPr/>
          <p:nvPr/>
        </p:nvSpPr>
        <p:spPr>
          <a:xfrm>
            <a:off x="3246120" y="11430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ChatGPT (OpenAI)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337560" y="17373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Gratuito: GPT-5 (limitado)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337560" y="19659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Plus: €20/mês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20440" y="2240280"/>
            <a:ext cx="2148840" cy="18288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27" name="Text 25"/>
          <p:cNvSpPr/>
          <p:nvPr/>
        </p:nvSpPr>
        <p:spPr>
          <a:xfrm>
            <a:off x="3337560" y="233172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fortes: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337560" y="256032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Versatilidade geral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37560" y="285292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Criação de imagens (GPT-Image)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37560" y="31455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Custom GPTs personalizados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337560" y="343814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Análise de dados + código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29000" y="4023360"/>
            <a:ext cx="2331720" cy="320040"/>
          </a:xfrm>
          <a:prstGeom prst="rect">
            <a:avLst/>
          </a:prstGeom>
          <a:solidFill>
            <a:srgbClr val="10A37F"/>
          </a:solidFill>
          <a:ln/>
        </p:spPr>
      </p:sp>
      <p:sp>
        <p:nvSpPr>
          <p:cNvPr id="33" name="Text 31"/>
          <p:cNvSpPr/>
          <p:nvPr/>
        </p:nvSpPr>
        <p:spPr>
          <a:xfrm>
            <a:off x="3429000" y="4023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chatgpt.com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337560" y="438912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para: tarefas variadas, imagens, GPTs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172200" y="1143000"/>
            <a:ext cx="2697480" cy="3520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72200" y="1143000"/>
            <a:ext cx="2697480" cy="5029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7" name="Text 35"/>
          <p:cNvSpPr/>
          <p:nvPr/>
        </p:nvSpPr>
        <p:spPr>
          <a:xfrm>
            <a:off x="6172200" y="11430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Gemini (Google)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63640" y="17373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Gratuito: Gemini 2.5 Flash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63640" y="19659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Advanced: ~€20/mês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46520" y="2240280"/>
            <a:ext cx="2148840" cy="18288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41" name="Text 39"/>
          <p:cNvSpPr/>
          <p:nvPr/>
        </p:nvSpPr>
        <p:spPr>
          <a:xfrm>
            <a:off x="6263640" y="233172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fortes: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263640" y="256032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Integração Google Workspace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285292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Pesquisa na web em tempo real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263640" y="31455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Análise de dados (Sheets)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263640" y="343814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NotebookLM incluído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355080" y="4023360"/>
            <a:ext cx="2331720" cy="32004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7" name="Text 45"/>
          <p:cNvSpPr/>
          <p:nvPr/>
        </p:nvSpPr>
        <p:spPr>
          <a:xfrm>
            <a:off x="6355080" y="4023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gemini.google.com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263640" y="438912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para: quem usa Google, pesquisa, dados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182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D28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Abacus.ai ChatLLM: Todos os Modelos por €10/mês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731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vez de pagar €20 por CADA assistente, paga €10 e acede a TODOS.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188720"/>
            <a:ext cx="53035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188720"/>
            <a:ext cx="5303520" cy="50292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1887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inclui por €10/mês (ilimitado):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828800"/>
            <a:ext cx="274320" cy="27432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18288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modelos de IA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834640" y="18288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GPT-5.4, Claude Opus 4.6, Gemini 3.1 Pro, Grok 4.1, Llama 4, Qwen 3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2377440"/>
            <a:ext cx="274320" cy="27432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23774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Geração de imagens e vídeo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834640" y="23774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DALL-E, Flux 2.0 Pro, Sora 2, Kling 2.6, Veo-3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2926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834640" y="2926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autónomo: pesquisa, código, relatórios, automatizações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474720"/>
            <a:ext cx="274320" cy="27432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474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05840" y="3474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documentos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834640" y="34747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PDFs, imagens — perguntar e obter respostas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4023360"/>
            <a:ext cx="274320" cy="27432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40233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Agent (CLI)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834640" y="40233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apps, websites e dashboards com linguagem natural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4160520"/>
            <a:ext cx="4937760" cy="365760"/>
          </a:xfrm>
          <a:prstGeom prst="rect">
            <a:avLst/>
          </a:prstGeom>
          <a:solidFill>
            <a:srgbClr val="FFF3E8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4160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Plus (€20) + Claude Pro (€20) + Gemini Advanced (€20) = €60/mês   VS   Abacus ChatLLM = €10/mês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0" y="1188720"/>
            <a:ext cx="2926080" cy="3474720"/>
          </a:xfrm>
          <a:prstGeom prst="rect">
            <a:avLst/>
          </a:prstGeom>
          <a:solidFill>
            <a:srgbClr val="6D28D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4360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Experimentar Agora</a:t>
            </a:r>
            <a:endParaRPr lang="en-US" sz="150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828800"/>
            <a:ext cx="1737360" cy="173736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5943600" y="3657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chatllm.abacus.ai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943600" y="3977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Leiam o QR ou visitem o link.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gratuito disponível para testar.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182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Ferramentas que Mudam o Jogo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731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Apresentações em minutos, pesquisa com fontes citadas, e reuniões transcritas.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188720"/>
            <a:ext cx="4160520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118872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Gamma.app — Apresentações com IA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7373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o tema → obtém deck profissional em 2 minutos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0116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Gratuito: 400 créditos IA (suficiente para ~10 decks)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Plus: €8/mês — sem branding, imagens avançadas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Animações IA e temas profissionais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188720"/>
            <a:ext cx="4160520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18872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Perplexity — Pesquisa IA com Fontes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17373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→ obtém resposta citada com fontes da web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00600" y="20116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Gratuito: pesquisas ilimitadas (básico)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Pro: €20/mês — multi-step reasoning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Substitui o Google para pesquisa de mercado/legislação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0040" y="3017520"/>
            <a:ext cx="416052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017520"/>
            <a:ext cx="416052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01752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Fireflies.ai — Transcrição de Reuniões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na reunião → transcreve → resume → envia acções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79476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Gratuito: 800 min armazenamento + 20 transcrições IA/mês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Pro: €10/mês — ilimitado + análise de sentimento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3017520"/>
            <a:ext cx="4160520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3017520"/>
            <a:ext cx="4160520" cy="4572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301752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Notion AI — Workspace Inteligente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0" y="3566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+ tarefas + wikis + IA num único espaço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379476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Gratuito: para uso pessoal (sem IA)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Plus: €10/mês — IA converte notas em SOPs e FAQs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182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Tip: O Que Conseguem Fazer de Graça, Hoje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868680"/>
            <a:ext cx="8595360" cy="4114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0" y="868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 (grátis)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35040" y="8686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IA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0" y="8686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280160"/>
            <a:ext cx="85953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 um contrato de 50 páginas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0" y="1280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(grátis)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35040" y="1280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0" y="1280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B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horas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737360"/>
            <a:ext cx="8595360" cy="411480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1737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Traduzir email comercial PT→EN→FR→DE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/ Claude / Gemini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35040" y="17373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0" y="17373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B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194560"/>
            <a:ext cx="85953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1945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apresentação para cliente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840480" y="21945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 (grátis)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035040" y="21945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15200" y="21945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B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horas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2651760"/>
            <a:ext cx="8595360" cy="411480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26517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Pesquisar legislação com fontes citadas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84048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(grátis)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035040" y="26517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15200" y="26517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B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hora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74320" y="3108960"/>
            <a:ext cx="85953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31089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Transcrever reunião de 1h + resumo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840480" y="31089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Fireflies (grátis)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35040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15200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B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" y="3566160"/>
            <a:ext cx="8595360" cy="411480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37" name="Text 35"/>
          <p:cNvSpPr/>
          <p:nvPr/>
        </p:nvSpPr>
        <p:spPr>
          <a:xfrm>
            <a:off x="365760" y="3566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dados de vendas (CSV/Excel)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840480" y="3566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/ Gemini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03504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31520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B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74320" y="4023360"/>
            <a:ext cx="85953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365760" y="4023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SOP para processo interno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840480" y="4023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(grátis)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035040" y="40233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15200" y="40233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B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dia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74320" y="4480560"/>
            <a:ext cx="8595360" cy="365760"/>
          </a:xfrm>
          <a:prstGeom prst="rect">
            <a:avLst/>
          </a:prstGeom>
          <a:solidFill>
            <a:srgbClr val="FFF3E8"/>
          </a:solidFill>
          <a:ln/>
        </p:spPr>
      </p:sp>
      <p:sp>
        <p:nvSpPr>
          <p:cNvPr id="47" name="Text 45"/>
          <p:cNvSpPr/>
          <p:nvPr/>
        </p:nvSpPr>
        <p:spPr>
          <a:xfrm>
            <a:off x="274320" y="448056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total: €0. Tempo investido a aprender: 30 minutos. Retorno: imediato.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Andar: Onde o Dinheiro Começa a Aparecer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02336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4023360" cy="457200"/>
          </a:xfrm>
          <a:prstGeom prst="rect">
            <a:avLst/>
          </a:prstGeom>
          <a:solidFill>
            <a:srgbClr val="1B365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4300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1097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Assistente Inteligente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vossos documentos, sempre disponíveis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 manuais, contratos e FAQs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423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"cérebro" que responde em 3 seg.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Disponível 24/7, qualquer língua.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 (grátis) ou RAG custom.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754880" y="1097280"/>
            <a:ext cx="402336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754880" y="1097280"/>
            <a:ext cx="4023360" cy="45720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03520" y="1097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Automação Directa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493776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ferramentas extra — só o assistente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9377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Claude/ChatGPT lê os vossos emails,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4937760" y="2423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extrai dados, gera respostas.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493776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Conectores Gmail, WhatsApp, Docs.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493776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programação, sem intermediários.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FFF3E8"/>
          </a:solidFill>
          <a:ln/>
        </p:spPr>
      </p:sp>
      <p:sp>
        <p:nvSpPr>
          <p:cNvPr id="25" name="Text 21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Investimento: €0–€20/mês (versões Pro)  |  Sem equipa técnica  |  Começam hoje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182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NotebookLM: O Vosso Assistente de Documentos (Grátis)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731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NotebookLM = base de conhecimento gratuita. Até 100 notebooks, 50 fontes cada. 50 queries/dia.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188720"/>
            <a:ext cx="50292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188720"/>
            <a:ext cx="73152" cy="329184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371600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a notebooklm.google.com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15819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com conta Google (grátis)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1965960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1920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novo Notebook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21762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por tema: "Contratos", "FAQs", etc.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2560320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Carregar documentos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27706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PDFs, Docs, Sites, até 50 fontes grátis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3154680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3108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Fazer perguntas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88720" y="33649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cláusulas de risco neste contrato?"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749040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88720" y="3703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Obter respostas com fontes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88720" y="39593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citam exactamente de onde vêm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577840" y="1188720"/>
            <a:ext cx="3200400" cy="3291840"/>
          </a:xfrm>
          <a:prstGeom prst="rect">
            <a:avLst/>
          </a:prstGeom>
          <a:solidFill>
            <a:srgbClr val="1B365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577840" y="1280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Casos de uso imediatos: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760720" y="17373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Carregar contratos-tipo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perguntar sobre cláusulas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760720" y="22402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Carregar manuais de produto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criar FAQ automática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760720" y="2743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Carregar regulamentos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pedir resumos executivos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760720" y="3246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Carregar propostas antigas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gerar novas baseadas nelas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760720" y="37490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Gerar "Audio Overview"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briefings em áudio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Automação Simples: Directamente no Assistente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precisam de ferramentas intermédias. O assistente de IA já faz isto.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371600"/>
            <a:ext cx="54864" cy="685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chega ao Gmail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0" y="1554480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91840" y="13716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lê, extrai dados, gera resposta em rascunho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0" y="1371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 + Gmail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57200" y="219456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2194560"/>
            <a:ext cx="54864" cy="685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2194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PDF recebido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3774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291840" y="2194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resume, identifica cláusulas de risco, lista acções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858000" y="2194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directo no Claude/ChatGPT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57200" y="301752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57200" y="3017520"/>
            <a:ext cx="54864" cy="685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7"/>
          <p:cNvSpPr/>
          <p:nvPr/>
        </p:nvSpPr>
        <p:spPr>
          <a:xfrm>
            <a:off x="731520" y="3017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de vendas em Excel</a:t>
            </a:r>
            <a:endParaRPr lang="en-US" sz="11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3200400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291840" y="30175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completa: tendências, top clientes, recomendações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858000" y="3017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no ChatGPT ou Gemini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57200" y="3840480"/>
            <a:ext cx="54864" cy="685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Text 22"/>
          <p:cNvSpPr/>
          <p:nvPr/>
        </p:nvSpPr>
        <p:spPr>
          <a:xfrm>
            <a:off x="731520" y="38404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Reunião no Zoom/Meet</a:t>
            </a:r>
            <a:endParaRPr lang="en-US" sz="110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4023360"/>
            <a:ext cx="274320" cy="27432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3291840" y="38404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Transcrição + resumo + acções enviadas por email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6858000" y="3840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Fireflies.ai (gratuito)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solidFill>
            <a:srgbClr val="FFF3E8"/>
          </a:solidFill>
          <a:ln/>
        </p:spPr>
      </p:sp>
      <p:sp>
        <p:nvSpPr>
          <p:cNvPr id="32" name="Text 2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ferramentas extra. Zero programação. Basta saber pedir.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Correr: A Empresa Que Antecipa o Mercado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inspirar, não para implementar amanhã. Mas para saber para onde caminham.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371600"/>
            <a:ext cx="54864" cy="914400"/>
          </a:xfrm>
          <a:prstGeom prst="rect">
            <a:avLst/>
          </a:prstGeom>
          <a:solidFill>
            <a:srgbClr val="E87722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14630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de IA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371600" y="1828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que tomam decisões dentro de regras definidas (ex: Abacus Deep Agent)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246888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" y="2468880"/>
            <a:ext cx="54864" cy="914400"/>
          </a:xfrm>
          <a:prstGeom prst="rect">
            <a:avLst/>
          </a:prstGeom>
          <a:solidFill>
            <a:srgbClr val="E87722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71600" y="2560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Motores de Oportunidade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371600" y="29260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que antecipa: "Cliente Y vai precisar do produto Z"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57200" y="356616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7200" y="3566160"/>
            <a:ext cx="54864" cy="914400"/>
          </a:xfrm>
          <a:prstGeom prst="rect">
            <a:avLst/>
          </a:prstGeom>
          <a:solidFill>
            <a:srgbClr val="E8772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74904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71600" y="3657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Predição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371600" y="40233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ruturas de stock, picos de procura, churn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23" name="Text 18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Horizonte: 6–18 meses após consolidar "Andar" · Com parceiro técnico (ex: AiParaTi)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91440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Hora da Verdade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1371600" y="2926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 de falar sobre os outros.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falar da vossa empresa.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3200400" y="3749040"/>
            <a:ext cx="274320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3931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1: Auto-Diagnóstico de Maturidade (15 min)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Exercício 1: Auto-Diagnóstico de Maturidade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05840"/>
            <a:ext cx="73152" cy="3474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261872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261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11887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workbook na página 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1856232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17830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às 12 perguntas (5 dimensões) com honestidade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2450592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377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Somar a pontuação total (12–60)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2960" y="3044952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044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as 3 maiores ineficiências e calcular custo anual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" y="3639312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639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3566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a tabela de interpretação: em que estágio estão?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0" y="4114800"/>
            <a:ext cx="3017520" cy="365760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0" y="4114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Tempo: 12 minutos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Interpretação dos Resultados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828800" y="1005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Estágio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0" y="1005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Significado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8229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463040"/>
            <a:ext cx="54864" cy="5486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463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12–20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828800" y="1463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Gatinhar (Início)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0" y="1463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zero. Potencial de ganho é máximo.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057400"/>
            <a:ext cx="8229600" cy="548640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2057400"/>
            <a:ext cx="54864" cy="5486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057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21–30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Gatinhar (Avançado)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0" y="2057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 consciência, falta execução.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651760"/>
            <a:ext cx="8229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2651760"/>
            <a:ext cx="54864" cy="5486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6517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31–40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828800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Andar (Início)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0" y="2651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Fundações existem. Hora de colher frutos.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548640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3246120"/>
            <a:ext cx="54864" cy="5486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32461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41–50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828800" y="3246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Andar (Avançado)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14800" y="32461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sólida. Hora de escalar.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457200" y="3840480"/>
            <a:ext cx="54864" cy="548640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840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51–60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828800" y="3840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114800" y="38404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frente de 95% das PMEs.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Pausa Estratégica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0" y="1920240"/>
            <a:ext cx="365760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03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Minutos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371600" y="3017520"/>
            <a:ext cx="6400800" cy="1097280"/>
          </a:xfrm>
          <a:prstGeom prst="rect">
            <a:avLst/>
          </a:prstGeom>
          <a:solidFill>
            <a:srgbClr val="1B365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371600" y="30175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Enquanto descansa, pense: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O processo que, se fosse automatizado amanhã,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libertaria mais tempo na sua equipa?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914400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Cenários Típicos &amp; ROI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Compostos a partir de projectos reais em PMEs portuguesas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347472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Tipos de Problema → 3 Tipos de Solução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05840"/>
            <a:ext cx="2560320" cy="36576"/>
          </a:xfrm>
          <a:prstGeom prst="rect">
            <a:avLst/>
          </a:prstGeom>
          <a:solidFill>
            <a:srgbClr val="1B365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18872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1828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31520" y="2560320"/>
            <a:ext cx="2011680" cy="3657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1" name="Shape 8"/>
          <p:cNvSpPr/>
          <p:nvPr/>
        </p:nvSpPr>
        <p:spPr>
          <a:xfrm>
            <a:off x="822960" y="2743200"/>
            <a:ext cx="1828800" cy="5029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Assistente IA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33832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equipa não encontra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 rapidamente"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337560" y="100584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337560" y="1005840"/>
            <a:ext cx="2560320" cy="36576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188720"/>
            <a:ext cx="548640" cy="5486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337560" y="1828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3611880" y="2560320"/>
            <a:ext cx="20116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Shape 15"/>
          <p:cNvSpPr/>
          <p:nvPr/>
        </p:nvSpPr>
        <p:spPr>
          <a:xfrm>
            <a:off x="3703320" y="2743200"/>
            <a:ext cx="1828800" cy="5029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Text 16"/>
          <p:cNvSpPr/>
          <p:nvPr/>
        </p:nvSpPr>
        <p:spPr>
          <a:xfrm>
            <a:off x="3703320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Automação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3429000" y="33832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"Fazemos tarefas manuais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podiam ser automáticas"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217920" y="100584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217920" y="1005840"/>
            <a:ext cx="2560320" cy="36576"/>
          </a:xfrm>
          <a:prstGeom prst="rect">
            <a:avLst/>
          </a:prstGeom>
          <a:solidFill>
            <a:srgbClr val="E87722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188720"/>
            <a:ext cx="548640" cy="54864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217920" y="1828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6492240" y="2560320"/>
            <a:ext cx="201168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27" name="Shape 22"/>
          <p:cNvSpPr/>
          <p:nvPr/>
        </p:nvSpPr>
        <p:spPr>
          <a:xfrm>
            <a:off x="6583680" y="2743200"/>
            <a:ext cx="1828800" cy="502920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28" name="Text 23"/>
          <p:cNvSpPr/>
          <p:nvPr/>
        </p:nvSpPr>
        <p:spPr>
          <a:xfrm>
            <a:off x="6583680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Agentes IA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6309360" y="33832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"Decidimos com instinto,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com dados"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 Real: Distribuidor Alimentar, Porto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1828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051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7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automatizados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1005840"/>
            <a:ext cx="1828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1051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7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-90%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redução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erros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1828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1051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7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18h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75488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libertadas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semana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440" y="1005840"/>
            <a:ext cx="1828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949440" y="1051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7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400%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94944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em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meses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468880"/>
            <a:ext cx="3931920" cy="365760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68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28803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pedidos/dia via WhatsApp e email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manual no ERP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18h/semana · 15% erros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246888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2468880"/>
            <a:ext cx="3931920" cy="36576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0" y="2468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37760" y="28803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extrai dados automaticamente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Encomenda criada sem intervenção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automático · 2% erros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solidFill>
            <a:srgbClr val="FFF3E8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Investimento: ~€6.000  |  Payback: 2 meses  |  Menos do que um meio-tempo.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 Real: Escritório de Advocacia, Lisboa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1828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051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-75%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revisão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1005840"/>
            <a:ext cx="1828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1051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+40%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clientes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1828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1051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+240k€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75488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adicional/ano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440" y="1005840"/>
            <a:ext cx="1828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949440" y="1051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1900%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94944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1º ano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82296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468880"/>
            <a:ext cx="73152" cy="18288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26060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advogados gastavam 30% do tempo em pesquisa e revisão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297180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Solução: NotebookLM + Claude sobre legislação e contratos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333756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75% menos tempo em revisão → 40% mais capacidade → €240k receita adicional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379476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"1.900% de ROI. Quando se liberta tempo de quem cobra €150/hora, o retorno é exponencial."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 Real: Alojamento Local, Lisboa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1828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051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-45%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chamadas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suporte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1005840"/>
            <a:ext cx="1828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1051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+20%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tours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refeições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1828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1051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340%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75488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em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meses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440" y="1005840"/>
            <a:ext cx="1828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949440" y="1051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24/7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94944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disponível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4 línguas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82296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468880"/>
            <a:ext cx="73152" cy="1828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26060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apartamentos, 120 mensagens/semana em 4 línguas. Equipa sobrecarregada.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297180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Solução: Chatbot multilingue (PT, EN, FR, DE) via WhatsApp e website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333756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Investimento: ~€4.000  |  Payback: 4 meses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379476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chatbot responde às 3h da manhã. A equipa dorme. O negócio não."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182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ao Vivo: 3 Coisas que Vamos Fazer Agora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731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Ecrã partilhado. Em tempo real. Para provarem que funciona.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371600"/>
            <a:ext cx="502920" cy="5029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63040" y="1280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Claude: Analisar um Contrato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1645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Carregar PDF de contrato real → pedir resumo de cláusulas de risco → obter análise em 30 seg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98080" y="1417320"/>
            <a:ext cx="1005840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4173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2514600"/>
            <a:ext cx="502920" cy="50292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63040" y="2423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NotebookLM: Criar Base de Conhecimento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63040" y="2788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notebook → carregar 5 documentos → fazer perguntas cruzadas entre documentos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98080" y="2560320"/>
            <a:ext cx="1005840" cy="4572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0" y="25603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" y="3657600"/>
            <a:ext cx="502920" cy="50292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463040" y="3566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Gamma: Criar Apresentação de Proposta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463040" y="3931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Descrever proposta em 2 frases → obter deck de 8 slides profissional → personalizar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498080" y="3703320"/>
            <a:ext cx="1005840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0" y="37033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FFF3E8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11 minutos de demo. Os participantes vêem com os próprios olhos.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182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Prompts Prontos a Usar (Copiar e Colar)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685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Copiem estes prompts para o Claude, ChatGPT ou Abacus. Funcionam imediatamente.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051560"/>
            <a:ext cx="274320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51560"/>
            <a:ext cx="2743200" cy="36576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Executivo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150876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"Analisa este documento e cria um resumo executivo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 página com: conclusões principais,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identificados e acções recomendadas."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0" y="1051560"/>
            <a:ext cx="274320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051560"/>
            <a:ext cx="2743200" cy="36576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Profissional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150876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"Escreve um email profissional em PT-PT para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[destinatário] sobre [assunto]. Tom: cordial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firme. Máximo 150 palavras."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26480" y="1051560"/>
            <a:ext cx="274320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051560"/>
            <a:ext cx="2743200" cy="36576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Dados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150876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"Analisa estes dados de vendas. Identifica: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clientes, tendência mensal, produtos em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queda, e 3 recomendações accionáveis."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737360" y="2926080"/>
            <a:ext cx="274320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737360" y="2926080"/>
            <a:ext cx="2743200" cy="36576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1" name="Text 19"/>
          <p:cNvSpPr/>
          <p:nvPr/>
        </p:nvSpPr>
        <p:spPr>
          <a:xfrm>
            <a:off x="173736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de Processo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828800" y="33832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"Cria um SOP para o seguinte processo: [desc].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Inclui: passos numerados, responsável por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passo, excepções e tempo estimado."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63440" y="2926080"/>
            <a:ext cx="274320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2926080"/>
            <a:ext cx="2743200" cy="36576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Comercial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54880" y="33832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 base nesta informação [colar dados], gera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proposta comercial profissional com: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contexto, solução, benefícios, preço e CTA."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914400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Vossa Vez: Mapear e Quantificar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2 e 3 — Aplicar ao vosso negócio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347472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Exercício 2: Mapear 3 Casos de Uso de IA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50292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05840"/>
            <a:ext cx="73152" cy="3200400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0972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oportunidade, definir: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54480"/>
            <a:ext cx="228600" cy="228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1508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/ Problema actual</a:t>
            </a:r>
            <a:endParaRPr lang="en-US" sz="12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88720" y="1965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Tipo: Assistente, Automação, ou Agente?</a:t>
            </a:r>
            <a:endParaRPr lang="en-US" sz="12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6888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2423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estimado (horas ou €)</a:t>
            </a:r>
            <a:endParaRPr lang="en-US" sz="12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260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88720" y="2880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Esforço de implementação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383280"/>
            <a:ext cx="228600" cy="2286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88720" y="3337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(scoring 1–5)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5669280" y="1005840"/>
            <a:ext cx="3017520" cy="3200400"/>
          </a:xfrm>
          <a:prstGeom prst="rect">
            <a:avLst/>
          </a:prstGeom>
          <a:solidFill>
            <a:srgbClr val="1B365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3"/>
          <p:cNvSpPr/>
          <p:nvPr/>
        </p:nvSpPr>
        <p:spPr>
          <a:xfrm>
            <a:off x="5669280" y="1097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Scoring Rápido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5852160" y="1554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(1–5)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5852160" y="20116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Facilidade (1–5)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5852160" y="24688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(1–5)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5852160" y="2926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Aceitação (1–5)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5852160" y="3383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Prioridade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5486400" y="3840480"/>
            <a:ext cx="3200400" cy="365760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27" name="Text 20"/>
          <p:cNvSpPr/>
          <p:nvPr/>
        </p:nvSpPr>
        <p:spPr>
          <a:xfrm>
            <a:off x="5486400" y="3840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Tempo: 12 minutos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Exercício 3: Hipótese de ROI para o Caso #1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9319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05840"/>
            <a:ext cx="3931920" cy="41148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 (€/ano)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poupadas × custo/hora × 48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reduzidos × custo/erro × 12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incremental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BENEFÍCIOS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005840"/>
            <a:ext cx="39319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CUSTOS (€ Ano 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776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Implementação (setup)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2011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Licenças × 12 meses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2468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+ Manutenção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CUSTOS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= (Benefícios - Custos) / Custos × 100     |     Payback = Custos / (Benefícios/12)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 meses → IMPLEMENTAR JÁ   |   4–6 meses → GO   |   6–9 meses → PILOTAR   |   &gt; 9 meses → REPENSAR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Referências de Investimento — PMEs (Março 2026)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83280" y="10058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0" y="1005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Mensal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0" y="1005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Implementação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463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RAG simples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8328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€2k–€5k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1463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€50–€150/mês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463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sem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1965960"/>
            <a:ext cx="8229600" cy="457200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1965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RAG multilingue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19659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€5k–€12k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1965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€100–€300/mês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0" y="1965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5–8 sem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Automação workflow (1 proc.)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83280" y="2468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€1.5k–€4k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€30–€100/mês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5800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sem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2971800"/>
            <a:ext cx="8229600" cy="457200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2971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Automação complexa (multi-sist.)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83280" y="2971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€4k–€10k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0" y="2971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€100–€250/mês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2971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sem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474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oportunidades/predição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383280" y="3474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€8k–€20k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€200–€500/mês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8580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8–14 sem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3977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autónomo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383280" y="3977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€10k–€25k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029200" y="3977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€300–€800/mês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58000" y="3977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10–16 sem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Valores indicativos para o mercado português. Incluem setup + formação inicial.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914400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Vosso Roadmap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diagnóstico a plano de acção em 90 dias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347472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Roadmap Canvas — O Vosso Plano numa Página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00584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32588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Estágio: ___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Score: ___/60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inefic.: ___€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5577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005840"/>
            <a:ext cx="5577840" cy="274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0058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(12 MESES)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91840" y="132588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queremos estar: ___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principal: ___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 ___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46888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468880"/>
            <a:ext cx="4114800" cy="274320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PROJECTO #1 (Quick Win)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27889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Tipo: ___  |  Impacto: ___  |  Payback: ___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0" y="246888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0" y="2468880"/>
            <a:ext cx="4114800" cy="274320"/>
          </a:xfrm>
          <a:prstGeom prst="rect">
            <a:avLst/>
          </a:prstGeom>
          <a:solidFill>
            <a:srgbClr val="8494A7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PROJECTO #2 (Médio Prazo)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63440" y="27889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Tipo: ___  |  Impacto: ___  |  Payback: ___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029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3657600"/>
            <a:ext cx="5029200" cy="274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3657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90 DIAS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39776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1-2: ___ | Sem 3-4: ___ | Sem 5-8: ___ | Sem 9-12: ___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0" y="3657600"/>
            <a:ext cx="32004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3657600"/>
            <a:ext cx="3200400" cy="274320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0" y="3657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ACÇÕES SEGUNDA-FEIRA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7840" y="3977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___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___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___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Tão Importante: O Que NÃO Fazer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05840"/>
            <a:ext cx="2560320" cy="502920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058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KILL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1691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&lt;5h/sem de impacto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ligação a receita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971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 mudança cultural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&gt;12 meses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37560" y="100584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37560" y="1005840"/>
            <a:ext cx="2560320" cy="502920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15" name="Text 13"/>
          <p:cNvSpPr/>
          <p:nvPr/>
        </p:nvSpPr>
        <p:spPr>
          <a:xfrm>
            <a:off x="3337560" y="10058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PILOTAR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20440" y="1691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Potencial alto mas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incerteza elevada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2044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semanas, escopo mínimo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20440" y="2971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KPI claro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20440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funciona → Scale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100584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1005840"/>
            <a:ext cx="2560320" cy="5029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10058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1691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&gt;10h/sem de impacto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&lt;6 meses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0" y="2971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 aceita a mudança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0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com autoridade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Mapa Completo: De €0 a Empresa Inteligente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731520"/>
            <a:ext cx="2697480" cy="402336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731520"/>
            <a:ext cx="2697480" cy="5943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3152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GATINHAR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€0/mês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9768" y="14173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ChatGPT / Claude / Gemini (grátis)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29768" y="183794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NotebookLM (assistente docs)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29768" y="22585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Perplexity (pesquisa com fontes)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9768" y="26791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Fireflies.ai (transcrição reuniões)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9768" y="309981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Gamma (apresentações IA)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9768" y="35204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Canva AI (design marketing)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9768" y="39410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Gemini no Gmail/Docs/Sheets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46120" y="731520"/>
            <a:ext cx="2697480" cy="402336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Shape 13"/>
          <p:cNvSpPr/>
          <p:nvPr/>
        </p:nvSpPr>
        <p:spPr>
          <a:xfrm>
            <a:off x="3246120" y="731520"/>
            <a:ext cx="2697480" cy="59436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6" name="Text 14"/>
          <p:cNvSpPr/>
          <p:nvPr/>
        </p:nvSpPr>
        <p:spPr>
          <a:xfrm>
            <a:off x="3246120" y="73152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€0–€20/mês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55848" y="14173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Abacus ChatLLM (€10, todos modelos)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355848" y="183794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Claude Pro (€20, análise avançada)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355848" y="22585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ChatGPT Plus (€20, GPTs custom)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55848" y="26791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Notion AI (€10, workspace + IA)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55848" y="309981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Claude Desktop + Gmail/WhatsApp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55848" y="35204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NotebookLM Plus (avançado)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55848" y="39410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Gamma Plus (€8, sem branding)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72200" y="731520"/>
            <a:ext cx="2697480" cy="402336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5" name="Shape 23"/>
          <p:cNvSpPr/>
          <p:nvPr/>
        </p:nvSpPr>
        <p:spPr>
          <a:xfrm>
            <a:off x="6172200" y="731520"/>
            <a:ext cx="2697480" cy="594360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26" name="Text 24"/>
          <p:cNvSpPr/>
          <p:nvPr/>
        </p:nvSpPr>
        <p:spPr>
          <a:xfrm>
            <a:off x="6172200" y="73152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€50–€500/mês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81928" y="14173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Abacus Deep Agent (automação)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81928" y="183794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RAG customizado (com parceiro)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1928" y="22585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Custom GPTs / Claude Projects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81928" y="26791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Lovable.dev (apps sem código)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281928" y="309981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Chatbots WhatsApp/website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1928" y="35204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Perplexity Enterprise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281928" y="39410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APIs de IA integradas no ERP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Começar por €0 → Validar com €10–€20/mês → Escalar com ROI comprovado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Fazem Segunda-Feira de Manhã?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acção na 1ª semana = o roadmap morre.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solidFill>
            <a:srgbClr val="1B365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691640"/>
            <a:ext cx="457200" cy="457200"/>
          </a:xfrm>
          <a:prstGeom prst="ellipse">
            <a:avLst/>
          </a:prstGeom>
          <a:solidFill>
            <a:srgbClr val="E877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15544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Claude (claude.ai) e carregar o documento mais chato do negócio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0" y="15544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2468880"/>
            <a:ext cx="7680960" cy="731520"/>
          </a:xfrm>
          <a:prstGeom prst="rect">
            <a:avLst/>
          </a:prstGeom>
          <a:solidFill>
            <a:srgbClr val="1B365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2606040"/>
            <a:ext cx="457200" cy="457200"/>
          </a:xfrm>
          <a:prstGeom prst="ellipse">
            <a:avLst/>
          </a:prstGeom>
          <a:solidFill>
            <a:srgbClr val="E8772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24688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um NotebookLM com os 5 documentos mais consultados da empresa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32320" y="24688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3383280"/>
            <a:ext cx="7680960" cy="731520"/>
          </a:xfrm>
          <a:prstGeom prst="rect">
            <a:avLst/>
          </a:prstGeom>
          <a:solidFill>
            <a:srgbClr val="1B365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3520440"/>
            <a:ext cx="457200" cy="457200"/>
          </a:xfrm>
          <a:prstGeom prst="ellipse">
            <a:avLst/>
          </a:prstGeom>
          <a:solidFill>
            <a:srgbClr val="E8772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33832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Partilhar o diagnóstico com a equipa de gestão e agendar follow-up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132320" y="33832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4206240"/>
            <a:ext cx="7680960" cy="457200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2062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30 minutos. Custo: €0. Impacto: imediato.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para PMEs — Módulo I: Do Caos à Eficiência Operacional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Construímos Hoje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3h30, passaram de "talvez um dia" para "sei exactamente o que fazer".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36192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8720" y="146304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maturidade (onde estão)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103120"/>
            <a:ext cx="8229600" cy="502920"/>
          </a:xfrm>
          <a:prstGeom prst="rect">
            <a:avLst/>
          </a:prstGeom>
          <a:solidFill>
            <a:srgbClr val="E8ECF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76272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88720" y="21031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oportunidades mapeadas e priorizadas (o que fazer)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57200" y="2743200"/>
            <a:ext cx="822960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16352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88720" y="274320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 de ROI quantificada (quanto vale)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solidFill>
            <a:srgbClr val="E8ECF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456432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88720" y="338328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de 90 dias (como fazer)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96512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188720" y="402336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acções para segunda-feira (quando começar)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Recursos e Links Úteis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5303520" cy="4023360"/>
          </a:xfrm>
          <a:prstGeom prst="rect">
            <a:avLst/>
          </a:prstGeom>
          <a:solidFill>
            <a:srgbClr val="1B365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7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Ferramentas Gratuitas — Abrir Agora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5029200" cy="3200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20240" y="1280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claude.ai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749040" y="1280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IA — análise, escrita, raciocínio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02920" y="1645920"/>
            <a:ext cx="5029200" cy="320040"/>
          </a:xfrm>
          <a:prstGeom prst="rect">
            <a:avLst/>
          </a:prstGeom>
          <a:solidFill>
            <a:srgbClr val="223D6B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645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20240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chatgpt.com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49040" y="1645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IA — versatilidade, imagens, GPTs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011680"/>
            <a:ext cx="5029200" cy="3200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20116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2024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gemini.google.com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749040" y="2011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IA — integração Google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02920" y="2377440"/>
            <a:ext cx="5029200" cy="320040"/>
          </a:xfrm>
          <a:prstGeom prst="rect">
            <a:avLst/>
          </a:prstGeom>
          <a:solidFill>
            <a:srgbClr val="223D6B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2377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92024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notebooklm.google.com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749040" y="2377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de documentos gratuito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02920" y="2743200"/>
            <a:ext cx="5029200" cy="3200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27432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920240" y="2743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perplexity.ai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749040" y="2743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IA com fontes citadas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02920" y="3108960"/>
            <a:ext cx="5029200" cy="320040"/>
          </a:xfrm>
          <a:prstGeom prst="rect">
            <a:avLst/>
          </a:prstGeom>
          <a:solidFill>
            <a:srgbClr val="223D6B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1089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920240" y="3108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gamma.app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749040" y="3108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Apresentações profissionais com IA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02920" y="3474720"/>
            <a:ext cx="5029200" cy="3200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3474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Fireflies.ai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920240" y="34747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fireflies.ai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749040" y="3474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Transcrição reuniões (20 grátis/mês)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02920" y="3840480"/>
            <a:ext cx="5029200" cy="320040"/>
          </a:xfrm>
          <a:prstGeom prst="rect">
            <a:avLst/>
          </a:prstGeom>
          <a:solidFill>
            <a:srgbClr val="223D6B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" y="3840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Abacus ChatLLM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92024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chatllm.abacus.ai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749040" y="3840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modelos por €10/mês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02920" y="4206240"/>
            <a:ext cx="5029200" cy="3200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9" name="Text 37"/>
          <p:cNvSpPr/>
          <p:nvPr/>
        </p:nvSpPr>
        <p:spPr>
          <a:xfrm>
            <a:off x="594360" y="4206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 AI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92024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canva.com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49040" y="4206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marketing com IA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943600" y="731520"/>
            <a:ext cx="2926080" cy="4023360"/>
          </a:xfrm>
          <a:prstGeom prst="rect">
            <a:avLst/>
          </a:prstGeom>
          <a:solidFill>
            <a:srgbClr val="6D28D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943600" y="822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Recomendação Especial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943600" y="1234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Abacus.ai ChatLLM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modelos. €10/mês.</a:t>
            </a:r>
            <a:endParaRPr lang="en-US" sz="1200" dirty="0"/>
          </a:p>
        </p:txBody>
      </p:sp>
      <p:pic>
        <p:nvPicPr>
          <p:cNvPr id="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874520"/>
            <a:ext cx="1920240" cy="1920240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943600" y="3840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Leiam o QR Code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5943600" y="4160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chatllm.abacus.ai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5943600" y="44348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gratuito disponível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8412480" y="47091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772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7315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8288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IA Não Substitui Líderes.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77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Amplifica-os.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3200400" y="3200400"/>
            <a:ext cx="2743200" cy="36576"/>
          </a:xfrm>
          <a:prstGeom prst="rect">
            <a:avLst/>
          </a:prstGeom>
          <a:solidFill>
            <a:srgbClr val="E87722"/>
          </a:solidFill>
          <a:ln/>
        </p:spPr>
      </p:sp>
      <p:sp>
        <p:nvSpPr>
          <p:cNvPr id="7" name="Text 4"/>
          <p:cNvSpPr/>
          <p:nvPr/>
        </p:nvSpPr>
        <p:spPr>
          <a:xfrm>
            <a:off x="1371600" y="33832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precisam de milhares de euros para começar.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Precisam de 30 minutos e a coragem de experimentar.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494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 Agora é executar.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 para PMEs: Do Caos à Eficiência Operacional — Módulo I (Completo)</dc:title>
  <dc:subject>PptxGenJS Presentation</dc:subject>
  <dc:creator>AiParaTi</dc:creator>
  <cp:lastModifiedBy>AiParaTi</cp:lastModifiedBy>
  <cp:revision>1</cp:revision>
  <dcterms:created xsi:type="dcterms:W3CDTF">2026-03-17T18:40:05Z</dcterms:created>
  <dcterms:modified xsi:type="dcterms:W3CDTF">2026-03-17T18:40:05Z</dcterms:modified>
</cp:coreProperties>
</file>